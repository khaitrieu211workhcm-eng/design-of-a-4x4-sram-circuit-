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8288000" cy="10287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Noto Sans" panose="020B0604020202020204" charset="0"/>
      <p:regular r:id="rId48"/>
    </p:embeddedFont>
    <p:embeddedFont>
      <p:font typeface="Noto Sans Bold" panose="020B0604020202020204" charset="0"/>
      <p:regular r:id="rId49"/>
    </p:embeddedFont>
    <p:embeddedFont>
      <p:font typeface="Poppins" panose="020B0604020202020204" charset="0"/>
      <p:regular r:id="rId50"/>
    </p:embeddedFont>
    <p:embeddedFont>
      <p:font typeface="Poppins Bold" panose="020B0604020202020204" charset="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828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Đề tài Thiết kế ALU 8-bit theo quy trình thiết kế vi mạch số hướng đến việc thiết kế và kiểm chứng một ALU 8-bit có khả năng thực hiện 4 phép toán cơ bản: AND, OR, ADD và SUB, nhân, chia, dịch trái, dịch phải, với việc lựa chọn chức năng thông qua các tín hiệu điều khiển.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94366" y="4656908"/>
            <a:ext cx="20476731" cy="8638431"/>
          </a:xfrm>
          <a:custGeom>
            <a:avLst/>
            <a:gdLst/>
            <a:ahLst/>
            <a:cxnLst/>
            <a:rect l="l" t="t" r="r" b="b"/>
            <a:pathLst>
              <a:path w="20476731" h="8638431">
                <a:moveTo>
                  <a:pt x="0" y="0"/>
                </a:moveTo>
                <a:lnTo>
                  <a:pt x="20476732" y="0"/>
                </a:lnTo>
                <a:lnTo>
                  <a:pt x="20476732" y="8638431"/>
                </a:lnTo>
                <a:lnTo>
                  <a:pt x="0" y="8638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458697" y="-2736249"/>
            <a:ext cx="21046482" cy="5870861"/>
            <a:chOff x="0" y="0"/>
            <a:chExt cx="28061976" cy="78278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29255" cy="7458056"/>
            </a:xfrm>
            <a:custGeom>
              <a:avLst/>
              <a:gdLst/>
              <a:ahLst/>
              <a:cxnLst/>
              <a:rect l="l" t="t" r="r" b="b"/>
              <a:pathLst>
                <a:path w="10229255" h="7458056">
                  <a:moveTo>
                    <a:pt x="0" y="0"/>
                  </a:moveTo>
                  <a:lnTo>
                    <a:pt x="10229255" y="0"/>
                  </a:lnTo>
                  <a:lnTo>
                    <a:pt x="10229255" y="7458056"/>
                  </a:lnTo>
                  <a:lnTo>
                    <a:pt x="0" y="7458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3677976" y="4422428"/>
              <a:ext cx="24384000" cy="1773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900">
                  <a:solidFill>
                    <a:srgbClr val="071952"/>
                  </a:solidFill>
                  <a:latin typeface="Noto Sans"/>
                  <a:ea typeface="Noto Sans"/>
                  <a:cs typeface="Noto Sans"/>
                  <a:sym typeface="Noto Sans"/>
                </a:rPr>
                <a:t>University of Science, Vietnam National University - Ho Chi Minh City</a:t>
              </a:r>
            </a:p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endParaRPr lang="en-US" sz="39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89090" y="5362572"/>
              <a:ext cx="12961772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71952"/>
                  </a:solidFill>
                  <a:latin typeface="Noto Sans"/>
                  <a:ea typeface="Noto Sans"/>
                  <a:cs typeface="Noto Sans"/>
                  <a:sym typeface="Noto Sans"/>
                </a:rPr>
                <a:t>Faculty of Electronics and Telecommunications</a:t>
              </a:r>
            </a:p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endPara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22852" y="6937789"/>
              <a:ext cx="12835035" cy="890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00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071952"/>
                  </a:solidFill>
                  <a:latin typeface="Noto Sans"/>
                  <a:ea typeface="Noto Sans"/>
                  <a:cs typeface="Noto Sans"/>
                  <a:sym typeface="Noto Sans"/>
                </a:rPr>
                <a:t>Electronic Integrated Circuit Design Lab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676468"/>
            <a:ext cx="16230600" cy="10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Design of a 4x4 SRAM circuit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07322" y="5086350"/>
            <a:ext cx="9297128" cy="1765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Presenters: Anh </a:t>
            </a:r>
            <a:r>
              <a:rPr lang="en-US" sz="2500" dirty="0" err="1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Phuc</a:t>
            </a:r>
            <a:r>
              <a:rPr lang="en-US" sz="2500" dirty="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 Bui, Anh Thu Ly, </a:t>
            </a:r>
            <a:r>
              <a:rPr lang="en-US" sz="2500" dirty="0" err="1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Khai</a:t>
            </a:r>
            <a:r>
              <a:rPr lang="en-US" sz="2500" dirty="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 Trieu Mai Ly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Student ID: 23207094, 23207114, 23207136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endParaRPr lang="en-US" sz="2500" dirty="0">
              <a:solidFill>
                <a:srgbClr val="07195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79404" y="3246233"/>
          <a:ext cx="16230600" cy="1057275"/>
        </p:xfrm>
        <a:graphic>
          <a:graphicData uri="http://schemas.openxmlformats.org/drawingml/2006/table">
            <a:tbl>
              <a:tblPr/>
              <a:tblGrid>
                <a:gridCol w="440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4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5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Cache 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Register Files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Networking Devices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Embedded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323971"/>
            <a:ext cx="16230600" cy="100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SRAM is another form of volatile memory that does not require refreshing. It is often used for cache memory in CPUs due to its faster access times compared to DRAM.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50691"/>
            <a:ext cx="6107658" cy="5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Some key applications include: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137313"/>
            <a:ext cx="16230600" cy="150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The objective of this project is to gain an understanding of SRAM by designing a complete 4x4 SRAM array using Synopsys tools on a 90nm technology node. The project aims to explore SRAM design, focusing on read and write operations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9404" y="4503533"/>
            <a:ext cx="1853902" cy="5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Object: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65192" y="-3480642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486527"/>
            <a:ext cx="14565297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Flow of Design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6775" y="1479964"/>
            <a:ext cx="1553209" cy="155320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C0C0C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09641" y="1850169"/>
            <a:ext cx="507477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6400" y="1888269"/>
            <a:ext cx="55985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Design Specifications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13097" y="1479964"/>
            <a:ext cx="1553209" cy="155320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504482" y="1888269"/>
            <a:ext cx="575481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Layout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6775" y="5370615"/>
            <a:ext cx="1553209" cy="155320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76400" y="5778919"/>
            <a:ext cx="433312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Waveform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86775" y="3425289"/>
            <a:ext cx="1553209" cy="155320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19533" y="3795494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9533" y="5740819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45856" y="1850169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76400" y="3967884"/>
            <a:ext cx="573479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Schematic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13097" y="3425289"/>
            <a:ext cx="1553209" cy="155320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745856" y="3795494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4482" y="3967884"/>
            <a:ext cx="561465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Verification - DRC/LVS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313097" y="5370615"/>
            <a:ext cx="1553209" cy="155320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45856" y="5740819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02723" y="5815432"/>
            <a:ext cx="561465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Parasitic Extraction - LPE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314856" y="7314349"/>
            <a:ext cx="1553209" cy="1553209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00" y="-41275"/>
              <a:ext cx="685800" cy="79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747615" y="7684554"/>
            <a:ext cx="687692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504482" y="7759166"/>
            <a:ext cx="561465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Post- Simulation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01267" y="1165952"/>
          <a:ext cx="17759673" cy="7479522"/>
        </p:xfrm>
        <a:graphic>
          <a:graphicData uri="http://schemas.openxmlformats.org/drawingml/2006/table">
            <a:tbl>
              <a:tblPr/>
              <a:tblGrid>
                <a:gridCol w="3189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9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908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Main 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Main 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586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SRAM Bank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 (rows) by 4 (columns)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Each word (row) contains 4 bitcells. Each read or write will access a single word (4 bits) from the same row.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49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SRAM Cell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6T (6 Transistors)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6T (6 Transistors)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49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Decoders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 need of column or row decoder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Can create signals to control each wordline directly.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586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Precharge circuit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Initializes both bitlines to VDD before each operation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Includes an equalizer transistor to reduce the initial differential voltage between the bitline pair.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784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Sense Amplifier circuit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Placed at the bottom of the bitline pair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Amplifies the small differential voltage developed during the read operation into full-swing logic outputs.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5869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Write driver circuit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Forces complementary values onto the bitline pair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Enabled only during the write phase and is used to overwrite the stored data in the selected SRAM cell.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Design Specifications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907757" y="562727"/>
            <a:ext cx="14680028" cy="9222069"/>
          </a:xfrm>
          <a:custGeom>
            <a:avLst/>
            <a:gdLst/>
            <a:ahLst/>
            <a:cxnLst/>
            <a:rect l="l" t="t" r="r" b="b"/>
            <a:pathLst>
              <a:path w="14680028" h="9222069">
                <a:moveTo>
                  <a:pt x="0" y="0"/>
                </a:moveTo>
                <a:lnTo>
                  <a:pt x="14680028" y="0"/>
                </a:lnTo>
                <a:lnTo>
                  <a:pt x="14680028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300" y="4719711"/>
            <a:ext cx="4083052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1. SRAM 6T Bitcell Schematic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302739" y="532465"/>
            <a:ext cx="10185016" cy="9222069"/>
          </a:xfrm>
          <a:custGeom>
            <a:avLst/>
            <a:gdLst/>
            <a:ahLst/>
            <a:cxnLst/>
            <a:rect l="l" t="t" r="r" b="b"/>
            <a:pathLst>
              <a:path w="10185016" h="9222069">
                <a:moveTo>
                  <a:pt x="0" y="0"/>
                </a:moveTo>
                <a:lnTo>
                  <a:pt x="10185016" y="0"/>
                </a:lnTo>
                <a:lnTo>
                  <a:pt x="10185016" y="9222070"/>
                </a:lnTo>
                <a:lnTo>
                  <a:pt x="0" y="9222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89450"/>
            <a:ext cx="5302739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2. Schematic of the precharge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06384" y="562727"/>
            <a:ext cx="11981616" cy="9288558"/>
          </a:xfrm>
          <a:custGeom>
            <a:avLst/>
            <a:gdLst/>
            <a:ahLst/>
            <a:cxnLst/>
            <a:rect l="l" t="t" r="r" b="b"/>
            <a:pathLst>
              <a:path w="11981616" h="9288558">
                <a:moveTo>
                  <a:pt x="0" y="0"/>
                </a:moveTo>
                <a:lnTo>
                  <a:pt x="11981616" y="0"/>
                </a:lnTo>
                <a:lnTo>
                  <a:pt x="11981616" y="9288557"/>
                </a:lnTo>
                <a:lnTo>
                  <a:pt x="0" y="92885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50" y="4938799"/>
            <a:ext cx="5941282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3. Schematic of the write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498561" y="532465"/>
            <a:ext cx="14789439" cy="9252330"/>
          </a:xfrm>
          <a:custGeom>
            <a:avLst/>
            <a:gdLst/>
            <a:ahLst/>
            <a:cxnLst/>
            <a:rect l="l" t="t" r="r" b="b"/>
            <a:pathLst>
              <a:path w="14789439" h="9252330">
                <a:moveTo>
                  <a:pt x="0" y="0"/>
                </a:moveTo>
                <a:lnTo>
                  <a:pt x="14789439" y="0"/>
                </a:lnTo>
                <a:lnTo>
                  <a:pt x="14789439" y="9252331"/>
                </a:lnTo>
                <a:lnTo>
                  <a:pt x="0" y="92523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721200"/>
            <a:ext cx="3546932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4. Schematic of the sense amplifier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889589" y="532465"/>
            <a:ext cx="12439095" cy="9252330"/>
          </a:xfrm>
          <a:custGeom>
            <a:avLst/>
            <a:gdLst/>
            <a:ahLst/>
            <a:cxnLst/>
            <a:rect l="l" t="t" r="r" b="b"/>
            <a:pathLst>
              <a:path w="12439095" h="9252330">
                <a:moveTo>
                  <a:pt x="0" y="0"/>
                </a:moveTo>
                <a:lnTo>
                  <a:pt x="12439095" y="0"/>
                </a:lnTo>
                <a:lnTo>
                  <a:pt x="12439095" y="9252331"/>
                </a:lnTo>
                <a:lnTo>
                  <a:pt x="0" y="92523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5889589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5. Symbol of the SRAM 6T bitcell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289386" y="562727"/>
            <a:ext cx="13998614" cy="9222069"/>
          </a:xfrm>
          <a:custGeom>
            <a:avLst/>
            <a:gdLst/>
            <a:ahLst/>
            <a:cxnLst/>
            <a:rect l="l" t="t" r="r" b="b"/>
            <a:pathLst>
              <a:path w="13998614" h="9222069">
                <a:moveTo>
                  <a:pt x="0" y="0"/>
                </a:moveTo>
                <a:lnTo>
                  <a:pt x="13998614" y="0"/>
                </a:lnTo>
                <a:lnTo>
                  <a:pt x="13998614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03" r="-8173" b="-63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470363"/>
            <a:ext cx="4289386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6. Symbol of the precharge circuit 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427919" y="562727"/>
            <a:ext cx="12860081" cy="9248521"/>
          </a:xfrm>
          <a:custGeom>
            <a:avLst/>
            <a:gdLst/>
            <a:ahLst/>
            <a:cxnLst/>
            <a:rect l="l" t="t" r="r" b="b"/>
            <a:pathLst>
              <a:path w="12860081" h="9248521">
                <a:moveTo>
                  <a:pt x="0" y="0"/>
                </a:moveTo>
                <a:lnTo>
                  <a:pt x="12860081" y="0"/>
                </a:lnTo>
                <a:lnTo>
                  <a:pt x="12860081" y="9248521"/>
                </a:lnTo>
                <a:lnTo>
                  <a:pt x="0" y="92485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764687"/>
            <a:ext cx="5427919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7. Symbol of the write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940783" y="562727"/>
            <a:ext cx="11347217" cy="9222069"/>
          </a:xfrm>
          <a:custGeom>
            <a:avLst/>
            <a:gdLst/>
            <a:ahLst/>
            <a:cxnLst/>
            <a:rect l="l" t="t" r="r" b="b"/>
            <a:pathLst>
              <a:path w="11347217" h="9222069">
                <a:moveTo>
                  <a:pt x="0" y="0"/>
                </a:moveTo>
                <a:lnTo>
                  <a:pt x="11347217" y="0"/>
                </a:lnTo>
                <a:lnTo>
                  <a:pt x="11347217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288" t="-27132" r="-4569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631" y="4721200"/>
            <a:ext cx="6914151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8. Symbol of the sense amplifier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033334" y="532465"/>
            <a:ext cx="10254666" cy="9252330"/>
          </a:xfrm>
          <a:custGeom>
            <a:avLst/>
            <a:gdLst/>
            <a:ahLst/>
            <a:cxnLst/>
            <a:rect l="l" t="t" r="r" b="b"/>
            <a:pathLst>
              <a:path w="10254666" h="9252330">
                <a:moveTo>
                  <a:pt x="0" y="0"/>
                </a:moveTo>
                <a:lnTo>
                  <a:pt x="10254666" y="0"/>
                </a:lnTo>
                <a:lnTo>
                  <a:pt x="10254666" y="9252331"/>
                </a:lnTo>
                <a:lnTo>
                  <a:pt x="0" y="92523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8066873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9. Schematic of the SRAM 4 bit using other circuits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066873" y="532465"/>
            <a:ext cx="10170964" cy="9222069"/>
          </a:xfrm>
          <a:custGeom>
            <a:avLst/>
            <a:gdLst/>
            <a:ahLst/>
            <a:cxnLst/>
            <a:rect l="l" t="t" r="r" b="b"/>
            <a:pathLst>
              <a:path w="10170964" h="9222069">
                <a:moveTo>
                  <a:pt x="0" y="0"/>
                </a:moveTo>
                <a:lnTo>
                  <a:pt x="10170964" y="0"/>
                </a:lnTo>
                <a:lnTo>
                  <a:pt x="10170964" y="9222070"/>
                </a:lnTo>
                <a:lnTo>
                  <a:pt x="0" y="9222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8066873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10. Symbol of the SRAM 4 bit using other circuits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946342" y="562727"/>
            <a:ext cx="11341658" cy="9222069"/>
          </a:xfrm>
          <a:custGeom>
            <a:avLst/>
            <a:gdLst/>
            <a:ahLst/>
            <a:cxnLst/>
            <a:rect l="l" t="t" r="r" b="b"/>
            <a:pathLst>
              <a:path w="11341658" h="9222069">
                <a:moveTo>
                  <a:pt x="0" y="0"/>
                </a:moveTo>
                <a:lnTo>
                  <a:pt x="11341658" y="0"/>
                </a:lnTo>
                <a:lnTo>
                  <a:pt x="11341658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6946342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11. Schematic of the SRAM 4x4 bit using other circuits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399219" y="562727"/>
            <a:ext cx="14149331" cy="9222069"/>
          </a:xfrm>
          <a:custGeom>
            <a:avLst/>
            <a:gdLst/>
            <a:ahLst/>
            <a:cxnLst/>
            <a:rect l="l" t="t" r="r" b="b"/>
            <a:pathLst>
              <a:path w="14149331" h="9222069">
                <a:moveTo>
                  <a:pt x="0" y="0"/>
                </a:moveTo>
                <a:lnTo>
                  <a:pt x="14149331" y="0"/>
                </a:lnTo>
                <a:lnTo>
                  <a:pt x="14149331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4520547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12. Schematic of the SRAM 6T bitcell testbench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322442"/>
            <a:ext cx="18251879" cy="7707258"/>
          </a:xfrm>
          <a:custGeom>
            <a:avLst/>
            <a:gdLst/>
            <a:ahLst/>
            <a:cxnLst/>
            <a:rect l="l" t="t" r="r" b="b"/>
            <a:pathLst>
              <a:path w="18251879" h="7707258">
                <a:moveTo>
                  <a:pt x="0" y="0"/>
                </a:moveTo>
                <a:lnTo>
                  <a:pt x="18251879" y="0"/>
                </a:lnTo>
                <a:lnTo>
                  <a:pt x="18251879" y="7707258"/>
                </a:lnTo>
                <a:lnTo>
                  <a:pt x="0" y="7707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982075"/>
            <a:ext cx="8798438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13. Schematic of the Precharge Circuit  testbench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337812"/>
            <a:ext cx="18288000" cy="7177377"/>
          </a:xfrm>
          <a:custGeom>
            <a:avLst/>
            <a:gdLst/>
            <a:ahLst/>
            <a:cxnLst/>
            <a:rect l="l" t="t" r="r" b="b"/>
            <a:pathLst>
              <a:path w="18288000" h="7177377">
                <a:moveTo>
                  <a:pt x="0" y="0"/>
                </a:moveTo>
                <a:lnTo>
                  <a:pt x="18288000" y="0"/>
                </a:lnTo>
                <a:lnTo>
                  <a:pt x="18288000" y="7177377"/>
                </a:lnTo>
                <a:lnTo>
                  <a:pt x="0" y="71773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467564"/>
            <a:ext cx="8248318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14. Schematic of the Write Driver  testbench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122923" y="562727"/>
            <a:ext cx="15560811" cy="9222069"/>
          </a:xfrm>
          <a:custGeom>
            <a:avLst/>
            <a:gdLst/>
            <a:ahLst/>
            <a:cxnLst/>
            <a:rect l="l" t="t" r="r" b="b"/>
            <a:pathLst>
              <a:path w="15560811" h="9222069">
                <a:moveTo>
                  <a:pt x="0" y="0"/>
                </a:moveTo>
                <a:lnTo>
                  <a:pt x="15560812" y="0"/>
                </a:lnTo>
                <a:lnTo>
                  <a:pt x="15560812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251275"/>
            <a:ext cx="4122923" cy="173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15. Schematic of the Sense Amplifier testbench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946342" y="562727"/>
            <a:ext cx="7646439" cy="9222069"/>
          </a:xfrm>
          <a:custGeom>
            <a:avLst/>
            <a:gdLst/>
            <a:ahLst/>
            <a:cxnLst/>
            <a:rect l="l" t="t" r="r" b="b"/>
            <a:pathLst>
              <a:path w="7646439" h="9222069">
                <a:moveTo>
                  <a:pt x="0" y="0"/>
                </a:moveTo>
                <a:lnTo>
                  <a:pt x="7646440" y="0"/>
                </a:lnTo>
                <a:lnTo>
                  <a:pt x="7646440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Schematic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600550"/>
            <a:ext cx="6946342" cy="129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Fig 16. Schematic of the SRAM 4x4 testbench using symbol SRAM 4x4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8247801" cy="7868511"/>
          </a:xfrm>
          <a:custGeom>
            <a:avLst/>
            <a:gdLst/>
            <a:ahLst/>
            <a:cxnLst/>
            <a:rect l="l" t="t" r="r" b="b"/>
            <a:pathLst>
              <a:path w="18247801" h="7868511">
                <a:moveTo>
                  <a:pt x="0" y="0"/>
                </a:moveTo>
                <a:lnTo>
                  <a:pt x="18247801" y="0"/>
                </a:lnTo>
                <a:lnTo>
                  <a:pt x="18247801" y="7868510"/>
                </a:lnTo>
                <a:lnTo>
                  <a:pt x="0" y="78685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Waveform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8986837"/>
            <a:ext cx="5626571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17. Waveform of SRAM 6T bitcell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390507"/>
            <a:ext cx="18288000" cy="7710621"/>
          </a:xfrm>
          <a:custGeom>
            <a:avLst/>
            <a:gdLst/>
            <a:ahLst/>
            <a:cxnLst/>
            <a:rect l="l" t="t" r="r" b="b"/>
            <a:pathLst>
              <a:path w="18288000" h="7710621">
                <a:moveTo>
                  <a:pt x="0" y="0"/>
                </a:moveTo>
                <a:lnTo>
                  <a:pt x="18288000" y="0"/>
                </a:lnTo>
                <a:lnTo>
                  <a:pt x="18288000" y="7710621"/>
                </a:lnTo>
                <a:lnTo>
                  <a:pt x="0" y="771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6502" r="-5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Waveform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9053503"/>
            <a:ext cx="6542776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18. Waveform of Precharge Circuit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639036"/>
            <a:ext cx="18288000" cy="7395252"/>
          </a:xfrm>
          <a:custGeom>
            <a:avLst/>
            <a:gdLst/>
            <a:ahLst/>
            <a:cxnLst/>
            <a:rect l="l" t="t" r="r" b="b"/>
            <a:pathLst>
              <a:path w="18288000" h="7395252">
                <a:moveTo>
                  <a:pt x="0" y="0"/>
                </a:moveTo>
                <a:lnTo>
                  <a:pt x="18288000" y="0"/>
                </a:lnTo>
                <a:lnTo>
                  <a:pt x="18288000" y="7395252"/>
                </a:lnTo>
                <a:lnTo>
                  <a:pt x="0" y="7395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Waveform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9023338"/>
            <a:ext cx="6542776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19. Waveform of Write Driver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8196007" cy="7674750"/>
          </a:xfrm>
          <a:custGeom>
            <a:avLst/>
            <a:gdLst/>
            <a:ahLst/>
            <a:cxnLst/>
            <a:rect l="l" t="t" r="r" b="b"/>
            <a:pathLst>
              <a:path w="18196007" h="7674750">
                <a:moveTo>
                  <a:pt x="0" y="0"/>
                </a:moveTo>
                <a:lnTo>
                  <a:pt x="18196007" y="0"/>
                </a:lnTo>
                <a:lnTo>
                  <a:pt x="18196007" y="7674750"/>
                </a:lnTo>
                <a:lnTo>
                  <a:pt x="0" y="7674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95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Waveform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8793077"/>
            <a:ext cx="6542776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20. Waveform of Sense Amplifier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2485" y="1314516"/>
            <a:ext cx="18195515" cy="7819812"/>
          </a:xfrm>
          <a:custGeom>
            <a:avLst/>
            <a:gdLst/>
            <a:ahLst/>
            <a:cxnLst/>
            <a:rect l="l" t="t" r="r" b="b"/>
            <a:pathLst>
              <a:path w="18195515" h="7819812">
                <a:moveTo>
                  <a:pt x="0" y="0"/>
                </a:moveTo>
                <a:lnTo>
                  <a:pt x="18195515" y="0"/>
                </a:lnTo>
                <a:lnTo>
                  <a:pt x="18195515" y="7819811"/>
                </a:lnTo>
                <a:lnTo>
                  <a:pt x="0" y="7819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Waveform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9086702"/>
            <a:ext cx="6542776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21. Waveform of SRAM 4x4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64188" y="1896861"/>
            <a:ext cx="18352188" cy="6352148"/>
          </a:xfrm>
          <a:custGeom>
            <a:avLst/>
            <a:gdLst/>
            <a:ahLst/>
            <a:cxnLst/>
            <a:rect l="l" t="t" r="r" b="b"/>
            <a:pathLst>
              <a:path w="18352188" h="6352148">
                <a:moveTo>
                  <a:pt x="0" y="0"/>
                </a:moveTo>
                <a:lnTo>
                  <a:pt x="18352188" y="0"/>
                </a:lnTo>
                <a:lnTo>
                  <a:pt x="18352188" y="6352148"/>
                </a:lnTo>
                <a:lnTo>
                  <a:pt x="0" y="6352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1283" b="-23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201384"/>
            <a:ext cx="5082232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22. Layout of SRAM 6T bitcell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5594512" cy="7904468"/>
          </a:xfrm>
          <a:custGeom>
            <a:avLst/>
            <a:gdLst/>
            <a:ahLst/>
            <a:cxnLst/>
            <a:rect l="l" t="t" r="r" b="b"/>
            <a:pathLst>
              <a:path w="15594512" h="7904468">
                <a:moveTo>
                  <a:pt x="0" y="0"/>
                </a:moveTo>
                <a:lnTo>
                  <a:pt x="15594512" y="0"/>
                </a:lnTo>
                <a:lnTo>
                  <a:pt x="15594512" y="7904468"/>
                </a:lnTo>
                <a:lnTo>
                  <a:pt x="0" y="79044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023338"/>
            <a:ext cx="6092976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23. Layout of Precharge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843172" y="562727"/>
            <a:ext cx="13429558" cy="9270379"/>
          </a:xfrm>
          <a:custGeom>
            <a:avLst/>
            <a:gdLst/>
            <a:ahLst/>
            <a:cxnLst/>
            <a:rect l="l" t="t" r="r" b="b"/>
            <a:pathLst>
              <a:path w="13429558" h="9270379">
                <a:moveTo>
                  <a:pt x="0" y="0"/>
                </a:moveTo>
                <a:lnTo>
                  <a:pt x="13429558" y="0"/>
                </a:lnTo>
                <a:lnTo>
                  <a:pt x="13429558" y="9270379"/>
                </a:lnTo>
                <a:lnTo>
                  <a:pt x="0" y="92703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039" r="-1287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337441"/>
            <a:ext cx="4843172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24. Layout of Write Driver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399219" y="562727"/>
            <a:ext cx="10765734" cy="9222069"/>
          </a:xfrm>
          <a:custGeom>
            <a:avLst/>
            <a:gdLst/>
            <a:ahLst/>
            <a:cxnLst/>
            <a:rect l="l" t="t" r="r" b="b"/>
            <a:pathLst>
              <a:path w="10765734" h="9222069">
                <a:moveTo>
                  <a:pt x="0" y="0"/>
                </a:moveTo>
                <a:lnTo>
                  <a:pt x="10765735" y="0"/>
                </a:lnTo>
                <a:lnTo>
                  <a:pt x="10765735" y="9222069"/>
                </a:lnTo>
                <a:lnTo>
                  <a:pt x="0" y="9222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283025"/>
            <a:ext cx="4399219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25. Layout of Sense Amplifier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299922" y="518473"/>
            <a:ext cx="14988078" cy="9266323"/>
          </a:xfrm>
          <a:custGeom>
            <a:avLst/>
            <a:gdLst/>
            <a:ahLst/>
            <a:cxnLst/>
            <a:rect l="l" t="t" r="r" b="b"/>
            <a:pathLst>
              <a:path w="14988078" h="9266323">
                <a:moveTo>
                  <a:pt x="0" y="0"/>
                </a:moveTo>
                <a:lnTo>
                  <a:pt x="14988078" y="0"/>
                </a:lnTo>
                <a:lnTo>
                  <a:pt x="14988078" y="9266323"/>
                </a:lnTo>
                <a:lnTo>
                  <a:pt x="0" y="926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Layout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938799"/>
            <a:ext cx="3299922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 Fig 26. SRAM 4x4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4484659" cy="7569586"/>
          </a:xfrm>
          <a:custGeom>
            <a:avLst/>
            <a:gdLst/>
            <a:ahLst/>
            <a:cxnLst/>
            <a:rect l="l" t="t" r="r" b="b"/>
            <a:pathLst>
              <a:path w="14484659" h="7569586">
                <a:moveTo>
                  <a:pt x="0" y="0"/>
                </a:moveTo>
                <a:lnTo>
                  <a:pt x="14484659" y="0"/>
                </a:lnTo>
                <a:lnTo>
                  <a:pt x="14484659" y="7569586"/>
                </a:lnTo>
                <a:lnTo>
                  <a:pt x="0" y="7569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836000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27.  DRC of SRAM 6T bitcell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429586"/>
            <a:ext cx="18288000" cy="6575675"/>
          </a:xfrm>
          <a:custGeom>
            <a:avLst/>
            <a:gdLst/>
            <a:ahLst/>
            <a:cxnLst/>
            <a:rect l="l" t="t" r="r" b="b"/>
            <a:pathLst>
              <a:path w="18288000" h="6575675">
                <a:moveTo>
                  <a:pt x="0" y="0"/>
                </a:moveTo>
                <a:lnTo>
                  <a:pt x="18288000" y="0"/>
                </a:lnTo>
                <a:lnTo>
                  <a:pt x="18288000" y="6575675"/>
                </a:lnTo>
                <a:lnTo>
                  <a:pt x="0" y="6575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7957636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28.  DRC of Precharge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82437"/>
            <a:ext cx="15855640" cy="8039363"/>
          </a:xfrm>
          <a:custGeom>
            <a:avLst/>
            <a:gdLst/>
            <a:ahLst/>
            <a:cxnLst/>
            <a:rect l="l" t="t" r="r" b="b"/>
            <a:pathLst>
              <a:path w="15855640" h="8039363">
                <a:moveTo>
                  <a:pt x="0" y="0"/>
                </a:moveTo>
                <a:lnTo>
                  <a:pt x="15855640" y="0"/>
                </a:lnTo>
                <a:lnTo>
                  <a:pt x="15855640" y="8039363"/>
                </a:lnTo>
                <a:lnTo>
                  <a:pt x="0" y="8039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9174175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29.  DRC of Write Driver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8587785" cy="7497106"/>
          </a:xfrm>
          <a:custGeom>
            <a:avLst/>
            <a:gdLst/>
            <a:ahLst/>
            <a:cxnLst/>
            <a:rect l="l" t="t" r="r" b="b"/>
            <a:pathLst>
              <a:path w="18587785" h="7497106">
                <a:moveTo>
                  <a:pt x="0" y="0"/>
                </a:moveTo>
                <a:lnTo>
                  <a:pt x="18587785" y="0"/>
                </a:lnTo>
                <a:lnTo>
                  <a:pt x="18587785" y="7497105"/>
                </a:lnTo>
                <a:lnTo>
                  <a:pt x="0" y="7497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615432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30.  DRC of Sense Amplifier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6884160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31.  LVS of SRAM 6T bitcell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35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1696845"/>
            <a:ext cx="18288000" cy="5234940"/>
          </a:xfrm>
          <a:custGeom>
            <a:avLst/>
            <a:gdLst/>
            <a:ahLst/>
            <a:cxnLst/>
            <a:rect l="l" t="t" r="r" b="b"/>
            <a:pathLst>
              <a:path w="18288000" h="5234940">
                <a:moveTo>
                  <a:pt x="0" y="0"/>
                </a:moveTo>
                <a:lnTo>
                  <a:pt x="18288000" y="0"/>
                </a:lnTo>
                <a:lnTo>
                  <a:pt x="18288000" y="5234940"/>
                </a:lnTo>
                <a:lnTo>
                  <a:pt x="0" y="5234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357968"/>
            <a:ext cx="18288000" cy="7149483"/>
          </a:xfrm>
          <a:custGeom>
            <a:avLst/>
            <a:gdLst/>
            <a:ahLst/>
            <a:cxnLst/>
            <a:rect l="l" t="t" r="r" b="b"/>
            <a:pathLst>
              <a:path w="18288000" h="7149483">
                <a:moveTo>
                  <a:pt x="0" y="0"/>
                </a:moveTo>
                <a:lnTo>
                  <a:pt x="18288000" y="0"/>
                </a:lnTo>
                <a:lnTo>
                  <a:pt x="18288000" y="7149483"/>
                </a:lnTo>
                <a:lnTo>
                  <a:pt x="0" y="71494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615432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32.  LVS of Precharge Circuit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343177"/>
            <a:ext cx="18288000" cy="6903809"/>
          </a:xfrm>
          <a:custGeom>
            <a:avLst/>
            <a:gdLst/>
            <a:ahLst/>
            <a:cxnLst/>
            <a:rect l="l" t="t" r="r" b="b"/>
            <a:pathLst>
              <a:path w="18288000" h="6903809">
                <a:moveTo>
                  <a:pt x="0" y="0"/>
                </a:moveTo>
                <a:lnTo>
                  <a:pt x="18288000" y="0"/>
                </a:lnTo>
                <a:lnTo>
                  <a:pt x="18288000" y="6903809"/>
                </a:lnTo>
                <a:lnTo>
                  <a:pt x="0" y="690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199361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33.  LVS of Write Driver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1165952"/>
            <a:ext cx="14091909" cy="7159776"/>
          </a:xfrm>
          <a:custGeom>
            <a:avLst/>
            <a:gdLst/>
            <a:ahLst/>
            <a:cxnLst/>
            <a:rect l="l" t="t" r="r" b="b"/>
            <a:pathLst>
              <a:path w="14091909" h="7159776">
                <a:moveTo>
                  <a:pt x="0" y="0"/>
                </a:moveTo>
                <a:lnTo>
                  <a:pt x="14091909" y="0"/>
                </a:lnTo>
                <a:lnTo>
                  <a:pt x="14091909" y="7159776"/>
                </a:lnTo>
                <a:lnTo>
                  <a:pt x="0" y="7159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Verification - DRC/LVS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8437726"/>
            <a:ext cx="6942645" cy="4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Fig 34.  LVS of Sense Amplifier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94366" y="4656908"/>
            <a:ext cx="20476731" cy="8638431"/>
          </a:xfrm>
          <a:custGeom>
            <a:avLst/>
            <a:gdLst/>
            <a:ahLst/>
            <a:cxnLst/>
            <a:rect l="l" t="t" r="r" b="b"/>
            <a:pathLst>
              <a:path w="20476731" h="8638431">
                <a:moveTo>
                  <a:pt x="0" y="0"/>
                </a:moveTo>
                <a:lnTo>
                  <a:pt x="20476732" y="0"/>
                </a:lnTo>
                <a:lnTo>
                  <a:pt x="20476732" y="8638431"/>
                </a:lnTo>
                <a:lnTo>
                  <a:pt x="0" y="8638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39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1624130"/>
            <a:ext cx="17928456" cy="5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Through this project, we have learnt how to design, simulate, and analyse the SRAM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2479266"/>
            <a:ext cx="14263191" cy="5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Finally, a 4x4 Memory array was designed and simulations were performed.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Conclusion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486527"/>
            <a:ext cx="8798438" cy="6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Reference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2488791"/>
            <a:ext cx="18288000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[2] V. Suroshi, "Memory-Design-And-Testing," GitHub. [Online]. Available: https://github.com/VardhanSuroshi/Memory-Design-And-Testing. [Accessed: Aug. 5, 2026].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1315767"/>
            <a:ext cx="18288000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[1] wILLIEWILLYWILLIe, "ECE391_Lab3.pdf," GitHub. [Online]. Available: https://github.com/wILLIEWILLYWILLIe/4x4-SRAM-Array-Design/blob/main/Lab3/ECE391_Lab3.pdf. [Accessed: Aug. 5, 2026].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3663591"/>
            <a:ext cx="18288000" cy="86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[3] L. D. Hung, "Lecture Notes on Electronic Integrated Circuit Design", University of Science, VNU-HCM, Ho Chi Minh City, Vietnam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94366" y="4656908"/>
            <a:ext cx="20476731" cy="8638431"/>
          </a:xfrm>
          <a:custGeom>
            <a:avLst/>
            <a:gdLst/>
            <a:ahLst/>
            <a:cxnLst/>
            <a:rect l="l" t="t" r="r" b="b"/>
            <a:pathLst>
              <a:path w="20476731" h="8638431">
                <a:moveTo>
                  <a:pt x="0" y="0"/>
                </a:moveTo>
                <a:lnTo>
                  <a:pt x="20476732" y="0"/>
                </a:lnTo>
                <a:lnTo>
                  <a:pt x="20476732" y="8638431"/>
                </a:lnTo>
                <a:lnTo>
                  <a:pt x="0" y="8638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4085383"/>
            <a:ext cx="18288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719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 FOR YOUR ATTENTION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98377" y="9784796"/>
            <a:ext cx="18786162" cy="502204"/>
            <a:chOff x="0" y="0"/>
            <a:chExt cx="4947796" cy="1322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8377" y="60522"/>
            <a:ext cx="18786162" cy="502204"/>
            <a:chOff x="0" y="0"/>
            <a:chExt cx="4947796" cy="1322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47796" cy="132268"/>
            </a:xfrm>
            <a:custGeom>
              <a:avLst/>
              <a:gdLst/>
              <a:ahLst/>
              <a:cxnLst/>
              <a:rect l="l" t="t" r="r" b="b"/>
              <a:pathLst>
                <a:path w="4947796" h="132268">
                  <a:moveTo>
                    <a:pt x="7006" y="0"/>
                  </a:moveTo>
                  <a:lnTo>
                    <a:pt x="4940790" y="0"/>
                  </a:lnTo>
                  <a:cubicBezTo>
                    <a:pt x="4944659" y="0"/>
                    <a:pt x="4947796" y="3137"/>
                    <a:pt x="4947796" y="7006"/>
                  </a:cubicBezTo>
                  <a:lnTo>
                    <a:pt x="4947796" y="125262"/>
                  </a:lnTo>
                  <a:cubicBezTo>
                    <a:pt x="4947796" y="127120"/>
                    <a:pt x="4947058" y="128902"/>
                    <a:pt x="4945744" y="130216"/>
                  </a:cubicBezTo>
                  <a:cubicBezTo>
                    <a:pt x="4944430" y="131530"/>
                    <a:pt x="4942648" y="132268"/>
                    <a:pt x="4940790" y="132268"/>
                  </a:cubicBezTo>
                  <a:lnTo>
                    <a:pt x="7006" y="132268"/>
                  </a:lnTo>
                  <a:cubicBezTo>
                    <a:pt x="3137" y="132268"/>
                    <a:pt x="0" y="129131"/>
                    <a:pt x="0" y="125262"/>
                  </a:cubicBezTo>
                  <a:lnTo>
                    <a:pt x="0" y="7006"/>
                  </a:lnTo>
                  <a:cubicBezTo>
                    <a:pt x="0" y="5148"/>
                    <a:pt x="738" y="3366"/>
                    <a:pt x="2052" y="2052"/>
                  </a:cubicBezTo>
                  <a:cubicBezTo>
                    <a:pt x="3366" y="738"/>
                    <a:pt x="5148" y="0"/>
                    <a:pt x="7006" y="0"/>
                  </a:cubicBezTo>
                  <a:close/>
                </a:path>
              </a:pathLst>
            </a:custGeom>
            <a:solidFill>
              <a:srgbClr val="0719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47796" cy="179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71952"/>
                </a:solidFill>
                <a:latin typeface="Noto Sans"/>
                <a:ea typeface="Noto Sans"/>
                <a:cs typeface="Noto Sans"/>
                <a:sym typeface="Noto Sans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3541</Words>
  <Application>Microsoft Office PowerPoint</Application>
  <PresentationFormat>Custom</PresentationFormat>
  <Paragraphs>290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Poppins</vt:lpstr>
      <vt:lpstr>Noto Sans</vt:lpstr>
      <vt:lpstr>Arial</vt:lpstr>
      <vt:lpstr>Calibri</vt:lpstr>
      <vt:lpstr>Noto Sans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SRAM 4x4</dc:title>
  <cp:lastModifiedBy>MAI LÝ KHẢI TRIỀU</cp:lastModifiedBy>
  <cp:revision>2</cp:revision>
  <dcterms:created xsi:type="dcterms:W3CDTF">2006-08-16T00:00:00Z</dcterms:created>
  <dcterms:modified xsi:type="dcterms:W3CDTF">2026-08-05T02:08:59Z</dcterms:modified>
  <dc:identifier>DAHQX7TQQbA</dc:identifier>
</cp:coreProperties>
</file>